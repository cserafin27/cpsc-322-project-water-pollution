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667C5-C570-7EFD-3E82-67DF6B4769EB}" v="320" dt="2025-12-10T07:43:33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85588-974A-6C20-D4BB-ADF236586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25DA0-E8FE-5599-CAE0-B514CECC1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6700">
                <a:ea typeface="+mj-lt"/>
                <a:cs typeface="+mj-lt"/>
              </a:rPr>
              <a:t>Water Pollution &amp; Disease</a:t>
            </a:r>
            <a:br>
              <a:rPr lang="en-US" sz="6700"/>
            </a:br>
            <a:r>
              <a:rPr lang="en-US" sz="4000">
                <a:ea typeface="+mj-lt"/>
                <a:cs typeface="+mj-lt"/>
              </a:rPr>
              <a:t>Predicting and Mapping Waterborne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A51DE-3E1C-B84A-E0C6-4695FFF2F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87052"/>
            <a:ext cx="9144000" cy="89321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28600" indent="-228600"/>
            <a:r>
              <a:rPr lang="en-US" sz="2800">
                <a:ea typeface="+mn-lt"/>
                <a:cs typeface="+mn-lt"/>
              </a:rPr>
              <a:t>Charles Serafin &amp; Kayla Vo</a:t>
            </a:r>
          </a:p>
          <a:p>
            <a:r>
              <a:rPr lang="en-US" sz="2800">
                <a:ea typeface="+mn-lt"/>
                <a:cs typeface="+mn-lt"/>
              </a:rPr>
              <a:t>CPSC 322 – Fall 2025</a:t>
            </a:r>
            <a:endParaRPr lang="en-US" sz="28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35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36411F-126C-4886-9BB4-3351A1AA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Why Predict Waterborne Risk?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397A2-AE0F-F1D4-F568-2362CBE10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Unsafe water contributes to millions of preventable illnesses and deaths worldwide each year.</a:t>
            </a:r>
          </a:p>
          <a:p>
            <a:r>
              <a:rPr lang="en-US" sz="2400">
                <a:ea typeface="+mn-lt"/>
                <a:cs typeface="+mn-lt"/>
              </a:rPr>
              <a:t>Many communities lack continuous or real-time water quality monitoring.</a:t>
            </a:r>
          </a:p>
          <a:p>
            <a:r>
              <a:rPr lang="en-US" sz="2400">
                <a:ea typeface="+mn-lt"/>
                <a:cs typeface="+mn-lt"/>
              </a:rPr>
              <a:t>Machine learning can turn raw water quality measurements into simple, actionable risk labels (e.g., Safe / At-Risk).</a:t>
            </a:r>
          </a:p>
          <a:p>
            <a:r>
              <a:rPr lang="en-US" sz="2400">
                <a:ea typeface="+mn-lt"/>
                <a:cs typeface="+mn-lt"/>
              </a:rPr>
              <a:t>Our goal: support early warning and better decision-making for water safety.</a:t>
            </a:r>
            <a:endParaRPr lang="en-US" sz="2400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853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485801-8AD1-96E4-B7E7-E9B47D2D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Dataset: Water Pollution &amp; Disease (Kaggle)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4A048-EF29-CE9E-D6F5-BFBB92B1A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n-US" sz="2200">
                <a:ea typeface="+mn-lt"/>
                <a:cs typeface="+mn-lt"/>
              </a:rPr>
              <a:t>Dataset: Water Pollution &amp; Disease (Kaggle)</a:t>
            </a:r>
            <a:endParaRPr lang="en-US" sz="2200" dirty="0"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</a:rPr>
              <a:t>Unit of analysis: a single water sample with chemical, </a:t>
            </a:r>
            <a:r>
              <a:rPr lang="en-US" sz="2200" dirty="0">
                <a:ea typeface="+mn-lt"/>
                <a:cs typeface="+mn-lt"/>
              </a:rPr>
              <a:t>biological, and environmental measurements.</a:t>
            </a:r>
            <a:endParaRPr lang="en-US" sz="2200"/>
          </a:p>
          <a:p>
            <a:r>
              <a:rPr lang="en-US" dirty="0"/>
              <a:t>Number of instances: 3,000</a:t>
            </a:r>
          </a:p>
          <a:p>
            <a:r>
              <a:rPr lang="en-US" dirty="0"/>
              <a:t>Attribute types:</a:t>
            </a:r>
          </a:p>
          <a:p>
            <a:r>
              <a:rPr lang="en-US" sz="2200" dirty="0">
                <a:ea typeface="+mn-lt"/>
                <a:cs typeface="+mn-lt"/>
              </a:rPr>
              <a:t>Numeric: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sz="2200" dirty="0">
                <a:ea typeface="+mn-lt"/>
                <a:cs typeface="+mn-lt"/>
              </a:rPr>
              <a:t>Contaminant Level (ppm)</a:t>
            </a:r>
            <a:endParaRPr lang="en-US"/>
          </a:p>
          <a:p>
            <a:pPr lvl="1"/>
            <a:r>
              <a:rPr lang="en-US" sz="2200" dirty="0">
                <a:ea typeface="+mn-lt"/>
                <a:cs typeface="+mn-lt"/>
              </a:rPr>
              <a:t>Nitrate Level (mg/L)</a:t>
            </a:r>
            <a:endParaRPr lang="en-US"/>
          </a:p>
          <a:p>
            <a:pPr lvl="1"/>
            <a:r>
              <a:rPr lang="en-US" sz="2200" dirty="0">
                <a:ea typeface="+mn-lt"/>
                <a:cs typeface="+mn-lt"/>
              </a:rPr>
              <a:t>Lead Concentration (µg/L)</a:t>
            </a:r>
            <a:endParaRPr lang="en-US"/>
          </a:p>
          <a:p>
            <a:pPr lvl="1"/>
            <a:r>
              <a:rPr lang="en-US" sz="2200" dirty="0">
                <a:ea typeface="+mn-lt"/>
                <a:cs typeface="+mn-lt"/>
              </a:rPr>
              <a:t>Bacteria Count (CFU/mL)</a:t>
            </a:r>
            <a:endParaRPr lang="en-US"/>
          </a:p>
          <a:p>
            <a:pPr lvl="1"/>
            <a:r>
              <a:rPr lang="en-US" sz="2200" dirty="0">
                <a:ea typeface="+mn-lt"/>
                <a:cs typeface="+mn-lt"/>
              </a:rPr>
              <a:t>pH Level</a:t>
            </a:r>
            <a:endParaRPr lang="en-US"/>
          </a:p>
          <a:p>
            <a:pPr lvl="1"/>
            <a:r>
              <a:rPr lang="en-US" sz="2200" dirty="0">
                <a:ea typeface="+mn-lt"/>
                <a:cs typeface="+mn-lt"/>
              </a:rPr>
              <a:t>Dissolved Oxygen (mg/L)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A7A2C15-0A46-8FD0-A077-6F1FA7F7A088}"/>
              </a:ext>
            </a:extLst>
          </p:cNvPr>
          <p:cNvSpPr txBox="1"/>
          <p:nvPr/>
        </p:nvSpPr>
        <p:spPr>
          <a:xfrm>
            <a:off x="5513438" y="4064819"/>
            <a:ext cx="4857955" cy="2490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700" dirty="0"/>
              <a:t>Categorical: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dirty="0"/>
              <a:t>Country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dirty="0"/>
              <a:t>Region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dirty="0"/>
              <a:t>Water Source Type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dirty="0"/>
              <a:t>Water Treatment Method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700" dirty="0"/>
              <a:t>Contaminated? (Yes / No)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700" dirty="0"/>
              <a:t>Risk Level (Low / Medium / High), derived from WHO/EPA-inspired thresholds</a:t>
            </a:r>
          </a:p>
        </p:txBody>
      </p:sp>
    </p:spTree>
    <p:extLst>
      <p:ext uri="{BB962C8B-B14F-4D97-AF65-F5344CB8AC3E}">
        <p14:creationId xmlns:p14="http://schemas.microsoft.com/office/powerpoint/2010/main" val="210650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28A81-4A77-68EC-432A-D3B4997CC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Defining “Risk” and “Contamination”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FC86F-6D76-1713-A3FA-291DA4235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7065384" cy="3124658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en-US"/>
              <a:t>Contaminated? (Yes / No)</a:t>
            </a:r>
          </a:p>
          <a:p>
            <a:r>
              <a:rPr lang="en-US" sz="1900" dirty="0">
                <a:ea typeface="+mn-lt"/>
                <a:cs typeface="+mn-lt"/>
              </a:rPr>
              <a:t>True if a sample violates two or more WHO/EPA guideline thresholds:</a:t>
            </a:r>
            <a:endParaRPr lang="en-US" dirty="0"/>
          </a:p>
          <a:p>
            <a:r>
              <a:rPr lang="en-US" sz="1900" dirty="0">
                <a:ea typeface="+mn-lt"/>
                <a:cs typeface="+mn-lt"/>
              </a:rPr>
              <a:t>Nitrate &gt; 10 mg/L</a:t>
            </a:r>
            <a:endParaRPr lang="en-US" dirty="0"/>
          </a:p>
          <a:p>
            <a:r>
              <a:rPr lang="en-US" sz="1900" dirty="0">
                <a:ea typeface="+mn-lt"/>
                <a:cs typeface="+mn-lt"/>
              </a:rPr>
              <a:t>Lead &gt; 15 µg/L</a:t>
            </a:r>
            <a:endParaRPr lang="en-US" dirty="0"/>
          </a:p>
          <a:p>
            <a:r>
              <a:rPr lang="en-US" sz="1900" dirty="0">
                <a:ea typeface="+mn-lt"/>
                <a:cs typeface="+mn-lt"/>
              </a:rPr>
              <a:t>Bacteria &gt; 1000 CFU/mL</a:t>
            </a:r>
            <a:endParaRPr lang="en-US" dirty="0"/>
          </a:p>
          <a:p>
            <a:r>
              <a:rPr lang="en-US" sz="1900" dirty="0">
                <a:ea typeface="+mn-lt"/>
                <a:cs typeface="+mn-lt"/>
              </a:rPr>
              <a:t>pH &lt; 6.5 or &gt; 8.5</a:t>
            </a:r>
            <a:endParaRPr lang="en-US" dirty="0"/>
          </a:p>
          <a:p>
            <a:r>
              <a:rPr lang="en-US" sz="1900" dirty="0">
                <a:ea typeface="+mn-lt"/>
                <a:cs typeface="+mn-lt"/>
              </a:rPr>
              <a:t>Dissolved Oxygen &lt; 5 mg/L</a:t>
            </a:r>
            <a:endParaRPr lang="en-US" dirty="0"/>
          </a:p>
          <a:p>
            <a:r>
              <a:rPr lang="en-US" sz="1900" dirty="0">
                <a:ea typeface="+mn-lt"/>
                <a:cs typeface="+mn-lt"/>
              </a:rPr>
              <a:t>Contaminant Level &gt; 5 ppm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921003-C41E-4C78-060B-29DA16752215}"/>
              </a:ext>
            </a:extLst>
          </p:cNvPr>
          <p:cNvSpPr txBox="1"/>
          <p:nvPr/>
        </p:nvSpPr>
        <p:spPr>
          <a:xfrm>
            <a:off x="6014474" y="4036142"/>
            <a:ext cx="4076699" cy="21026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Risk Level (Low / Medium / High)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Defined by number of total violations: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Low: 0–1 violations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Medium: 2–3 violations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High: 4+ violations</a:t>
            </a:r>
          </a:p>
        </p:txBody>
      </p:sp>
    </p:spTree>
    <p:extLst>
      <p:ext uri="{BB962C8B-B14F-4D97-AF65-F5344CB8AC3E}">
        <p14:creationId xmlns:p14="http://schemas.microsoft.com/office/powerpoint/2010/main" val="3748851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A47AB-68DD-E408-30FF-E85324DB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Data Challenges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0B6D2-79A9-9F86-0284-4045552E1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03411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The dataset contains no missing values, simplifying preprocessing.</a:t>
            </a:r>
            <a:endParaRPr lang="en-US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Numeric attributes vary substantially (e.g., bacteria count has extreme outliers), affecting model behavior.</a:t>
            </a:r>
            <a:endParaRPr lang="en-US"/>
          </a:p>
          <a:p>
            <a:r>
              <a:rPr lang="en-US" sz="2000" dirty="0">
                <a:ea typeface="+mn-lt"/>
                <a:cs typeface="+mn-lt"/>
              </a:rPr>
              <a:t>Categorical attributes required one-hot encoding for ML models.</a:t>
            </a:r>
          </a:p>
          <a:p>
            <a:r>
              <a:rPr lang="en-US" sz="2000" dirty="0">
                <a:ea typeface="+mn-lt"/>
                <a:cs typeface="+mn-lt"/>
              </a:rPr>
              <a:t>The most conceptual challenge was aligning chemical measurements with WHO/EPA safety thresholds to generate meaningful labels.</a:t>
            </a:r>
            <a:endParaRPr lang="en-US"/>
          </a:p>
          <a:p>
            <a:r>
              <a:rPr lang="en-US" sz="2000" dirty="0">
                <a:ea typeface="+mn-lt"/>
                <a:cs typeface="+mn-lt"/>
              </a:rPr>
              <a:t>Risk levels are imbalanced, especially Low vs High.</a:t>
            </a:r>
            <a:endParaRPr lang="en-US">
              <a:ea typeface="+mn-lt"/>
              <a:cs typeface="+mn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70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D7DBB-9904-6926-DFD6-81733510B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US" sz="3800" dirty="0">
                <a:ea typeface="+mj-lt"/>
                <a:cs typeface="+mj-lt"/>
              </a:rPr>
              <a:t>EDA: Histograms of Key Contaminants</a:t>
            </a:r>
            <a:endParaRPr lang="en-US" sz="3800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E3792-5BA1-1F52-F73F-3D890AEC9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+mn-lt"/>
                <a:cs typeface="+mn-lt"/>
              </a:rPr>
              <a:t>The histograms show a wide range of contamination levels across samples, suggesting that multiple features, not a single dominant contaminant, are necessary for classification.</a:t>
            </a:r>
          </a:p>
        </p:txBody>
      </p:sp>
      <p:pic>
        <p:nvPicPr>
          <p:cNvPr id="6" name="Picture 5" descr="A graph showing the amount of nitrogen&#10;&#10;AI-generated content may be incorrect.">
            <a:extLst>
              <a:ext uri="{FF2B5EF4-FFF2-40B4-BE49-F238E27FC236}">
                <a16:creationId xmlns:a16="http://schemas.microsoft.com/office/drawing/2014/main" id="{952CDB21-BBD4-2FF0-18DD-512061C94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743" y="644915"/>
            <a:ext cx="7237383" cy="2462662"/>
          </a:xfrm>
          <a:prstGeom prst="rect">
            <a:avLst/>
          </a:prstGeom>
        </p:spPr>
      </p:pic>
      <p:pic>
        <p:nvPicPr>
          <p:cNvPr id="7" name="Picture 6" descr="A graph showing the amount of ph and turbidity&#10;&#10;AI-generated content may be incorrect.">
            <a:extLst>
              <a:ext uri="{FF2B5EF4-FFF2-40B4-BE49-F238E27FC236}">
                <a16:creationId xmlns:a16="http://schemas.microsoft.com/office/drawing/2014/main" id="{A480133E-CA0E-D519-34F6-18F07E9A4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96" y="3448678"/>
            <a:ext cx="7227678" cy="273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063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D70FC-86FA-40D1-0B29-9FE675C60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200" kern="1200" dirty="0">
                <a:latin typeface="+mj-lt"/>
                <a:ea typeface="+mj-ea"/>
                <a:cs typeface="+mj-cs"/>
              </a:rPr>
              <a:t>EDA: Boxplot of Nitrate Level</a:t>
            </a:r>
            <a:r>
              <a:rPr lang="en-US" sz="4200" dirty="0"/>
              <a:t> by Risk Level</a:t>
            </a: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32784-880C-BC81-533C-EA21AC22C744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Higher nitrate concentrations are associated with Medium and High risk samples, while Low-risk samples generally stay near or below guideline thresholds. The spread and elevated medians indicate that nitrates meaningfully contribute to risk classification.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FE178C-33F6-D2DE-D41F-E24008F68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547736"/>
            <a:ext cx="6903720" cy="37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01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72B30-3595-13C9-161F-27AD84DD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latin typeface="+mj-lt"/>
                <a:ea typeface="+mj-ea"/>
                <a:cs typeface="+mj-cs"/>
              </a:rPr>
              <a:t>EDA: Boxplot of </a:t>
            </a:r>
            <a:r>
              <a:rPr lang="en-US" sz="3800" dirty="0">
                <a:ea typeface="+mj-lt"/>
                <a:cs typeface="+mj-lt"/>
              </a:rPr>
              <a:t>Bacteria Count by Risk Level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1DDBD7-DC64-1500-3C27-E066F733227A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r>
              <a:rPr lang="en-US" sz="2200" dirty="0">
                <a:ea typeface="+mn-lt"/>
                <a:cs typeface="+mn-lt"/>
              </a:rPr>
              <a:t>Because bacteria count is both skewed and strongly elevated in Medium and High categories, it serves as one of the most influential predictors of overall water-quality risk.</a:t>
            </a:r>
            <a:endParaRPr lang="en-US" b="1" dirty="0">
              <a:ea typeface="+mn-lt"/>
              <a:cs typeface="+mn-lt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57BF6A-893D-B634-EE29-90B9885BC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539107"/>
            <a:ext cx="6903720" cy="377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8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6C5B7-6F57-5438-A84B-3026AE30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EDA: Risk Level Distribution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DFC9C-BBDC-9E14-DEB3-16CF259E65B9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High: 1530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Medium: 1135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Low: 335</a:t>
            </a:r>
            <a:endParaRPr lang="en-US" sz="2200" b="1"/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This indicates moderate imbalance, but NOT extreme imbalance.</a:t>
            </a:r>
            <a:endParaRPr lang="en-US" sz="2200" b="1"/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Accuracy alone may still be misleading, so confusion matrices are necessary.</a:t>
            </a:r>
            <a:endParaRPr lang="en-US" sz="2200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3" name="Content Placeholder 2" descr="A graph of a distribution of risk levels&#10;&#10;AI-generated content may be incorrect.">
            <a:extLst>
              <a:ext uri="{FF2B5EF4-FFF2-40B4-BE49-F238E27FC236}">
                <a16:creationId xmlns:a16="http://schemas.microsoft.com/office/drawing/2014/main" id="{6E85E80C-DD52-0808-58E3-CDE0D3DF1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952290"/>
            <a:ext cx="6903720" cy="495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95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DE86F-0AAE-8330-B0E7-6281B1C1B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Correlation Heatmap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8301F-F340-A993-F396-239EC93217FE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Most variables have weak correlations, suggesting each contributes unique information to classification.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ea typeface="+mn-lt"/>
                <a:cs typeface="+mn-lt"/>
              </a:rPr>
              <a:t>Lead, nitrate, bacteria count, and contaminant level</a:t>
            </a:r>
            <a:r>
              <a:rPr lang="en-US" sz="1900" dirty="0"/>
              <a:t> do not strongly correlate with one another, meaning multi-feature models like decision trees and random forests can benefit.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F5BE1A2E-BC25-12D0-7EAD-64A135601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5865" y="640080"/>
            <a:ext cx="662058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74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DD058-48AD-4974-D353-EF2DF76D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B8BD09-5C13-183D-CB4F-C0AAF05EC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CC4AB90-5F76-458A-A581-626816883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97B444-7739-44F3-3181-679E8DBCE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47FEF7-28AA-9B67-7567-74838988D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521C43-7D45-DACB-EB70-8860E6B70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33972C9-2E7C-4B32-FC43-400A6055B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8F3B9F-63B8-CE90-39B0-A41E93B71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Preprocessing &amp; Feature Engineering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15820-DD6B-D018-B213-FF7A2E07F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en-US" sz="2600">
                <a:ea typeface="+mn-lt"/>
                <a:cs typeface="+mn-lt"/>
              </a:rPr>
              <a:t>Preprocessing Steps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No missing values → no imputation required</a:t>
            </a:r>
            <a:endParaRPr lang="en-US"/>
          </a:p>
          <a:p>
            <a:r>
              <a:rPr lang="en-US" sz="2600">
                <a:ea typeface="+mn-lt"/>
                <a:cs typeface="+mn-lt"/>
              </a:rPr>
              <a:t>One-hot encoding for Country, Region, Water Source Type, and Treatment Method</a:t>
            </a:r>
            <a:endParaRPr lang="en-US"/>
          </a:p>
          <a:p>
            <a:r>
              <a:rPr lang="en-US" sz="2600">
                <a:ea typeface="+mn-lt"/>
                <a:cs typeface="+mn-lt"/>
              </a:rPr>
              <a:t>Numeric features left unscaled (Decision Tree &amp; Random Forest do not require scaling)</a:t>
            </a:r>
            <a:endParaRPr lang="en-US"/>
          </a:p>
          <a:p>
            <a:r>
              <a:rPr lang="en-US" sz="2600">
                <a:ea typeface="+mn-lt"/>
                <a:cs typeface="+mn-lt"/>
              </a:rPr>
              <a:t>Stratified train/test split (2/3 train, 1/3 test)</a:t>
            </a:r>
            <a:endParaRPr lang="en-US"/>
          </a:p>
          <a:p>
            <a:r>
              <a:rPr lang="en-US" sz="2600" dirty="0">
                <a:ea typeface="+mn-lt"/>
                <a:cs typeface="+mn-lt"/>
              </a:rPr>
              <a:t>Derived risk labels using WHO/EPA-inspired thresholds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2FC290-6324-5C2C-E1E5-A640829E1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142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343DA-5EB7-32FC-0384-2B2BF48C8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82524F-54D6-F7EB-F542-2ADC45FF1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AC23B5-8154-6E79-51B3-EE976DB3A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0CD47E5-64FA-6791-B936-E0BC269CA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8BD654-E685-3F13-7162-4806947F86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6ED1780-5AD9-1040-9555-6F8FC879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66584AC-13AF-C59D-4DE8-14F03584A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6DC9C-155A-C56F-5B8F-8C2536EB8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Models Considered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908DE-2E24-2218-1876-ECD2345FF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457200" indent="-457200"/>
            <a:r>
              <a:rPr lang="en-US" sz="3400" dirty="0">
                <a:ea typeface="+mn-lt"/>
                <a:cs typeface="+mn-lt"/>
              </a:rPr>
              <a:t>Decision Tree (custom implementation)</a:t>
            </a:r>
            <a:endParaRPr lang="en-US">
              <a:ea typeface="+mn-lt"/>
              <a:cs typeface="+mn-lt"/>
            </a:endParaRPr>
          </a:p>
          <a:p>
            <a:pPr marL="457200" indent="-457200"/>
            <a:r>
              <a:rPr lang="en-US" sz="3400" dirty="0">
                <a:ea typeface="+mn-lt"/>
                <a:cs typeface="+mn-lt"/>
              </a:rPr>
              <a:t>K-Nearest Neighbors (k=5)</a:t>
            </a:r>
          </a:p>
          <a:p>
            <a:pPr marL="457200" indent="-457200"/>
            <a:r>
              <a:rPr lang="en-US" sz="3400" dirty="0">
                <a:ea typeface="+mn-lt"/>
                <a:cs typeface="+mn-lt"/>
              </a:rPr>
              <a:t>Custom Random Forest</a:t>
            </a:r>
            <a:endParaRPr lang="en-US" dirty="0">
              <a:ea typeface="+mn-lt"/>
              <a:cs typeface="+mn-lt"/>
            </a:endParaRPr>
          </a:p>
          <a:p>
            <a:pPr marL="914400" lvl="1"/>
            <a:r>
              <a:rPr lang="en-US" sz="2600" dirty="0">
                <a:ea typeface="+mn-lt"/>
                <a:cs typeface="+mn-lt"/>
              </a:rPr>
              <a:t>Bootstrapped training sets</a:t>
            </a:r>
            <a:endParaRPr lang="en-US">
              <a:ea typeface="+mn-lt"/>
              <a:cs typeface="+mn-lt"/>
            </a:endParaRPr>
          </a:p>
          <a:p>
            <a:pPr marL="914400" lvl="1"/>
            <a:r>
              <a:rPr lang="en-US" dirty="0">
                <a:ea typeface="+mn-lt"/>
                <a:cs typeface="+mn-lt"/>
              </a:rPr>
              <a:t>Random feature subsets</a:t>
            </a:r>
          </a:p>
          <a:p>
            <a:pPr marL="914400" lvl="1"/>
            <a:r>
              <a:rPr lang="en-US" dirty="0">
                <a:ea typeface="+mn-lt"/>
                <a:cs typeface="+mn-lt"/>
              </a:rPr>
              <a:t>Select top-performing trees (M)</a:t>
            </a:r>
          </a:p>
          <a:p>
            <a:pPr marL="914400" lvl="1"/>
            <a:r>
              <a:rPr lang="en-US" dirty="0">
                <a:ea typeface="+mn-lt"/>
                <a:cs typeface="+mn-lt"/>
              </a:rPr>
              <a:t>Majority vote prediction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06C6DD-3F2E-A735-6D15-F6D6623DE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749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D7F22-8EA3-FCE5-D720-3BCEE75C1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EDF61F-CEBA-C590-1861-EC830CB11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81B695-9B9C-23E8-9F89-23268538F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43B733-2B46-228D-79F5-7B0382CD8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55FBF6E-6F06-042D-EB0A-3B46E5E4E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DBDB0C-9B6E-514A-3F77-17C9C270A6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C25755D-C469-0C1A-E731-FE7BF043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20341-BFD1-B00A-BC8D-66389B86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Evaluation Strategy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A282E-18B4-3F99-AB42-AC6BA3A58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r>
              <a:rPr lang="en-US" sz="5100" dirty="0">
                <a:ea typeface="+mn-lt"/>
                <a:cs typeface="+mn-lt"/>
              </a:rPr>
              <a:t>Stratified train/test split (2/3 training, 1/3 testing)</a:t>
            </a:r>
          </a:p>
          <a:p>
            <a:r>
              <a:rPr lang="en-US" sz="5100" dirty="0">
                <a:ea typeface="+mn-lt"/>
                <a:cs typeface="+mn-lt"/>
              </a:rPr>
              <a:t>Accuracy as primary metric</a:t>
            </a:r>
            <a:endParaRPr lang="en-US"/>
          </a:p>
          <a:p>
            <a:r>
              <a:rPr lang="en-US" sz="5100" dirty="0">
                <a:ea typeface="+mn-lt"/>
                <a:cs typeface="+mn-lt"/>
              </a:rPr>
              <a:t>Confusion matrices for class-specific insight</a:t>
            </a:r>
            <a:endParaRPr lang="en-US"/>
          </a:p>
          <a:p>
            <a:r>
              <a:rPr lang="en-US" sz="5100" dirty="0">
                <a:ea typeface="+mn-lt"/>
                <a:cs typeface="+mn-lt"/>
              </a:rPr>
              <a:t>For Random Forest:</a:t>
            </a:r>
            <a:endParaRPr lang="en-US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4700" dirty="0">
                <a:ea typeface="+mn-lt"/>
                <a:cs typeface="+mn-lt"/>
              </a:rPr>
              <a:t>Multiple runs for each parameter setting (N, M, F) due to randomness</a:t>
            </a:r>
            <a:endParaRPr lang="en-US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4700" dirty="0">
                <a:ea typeface="+mn-lt"/>
                <a:cs typeface="+mn-lt"/>
              </a:rPr>
              <a:t>Compare average accuracy</a:t>
            </a:r>
            <a:endParaRPr lang="en-US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4700" dirty="0">
                <a:ea typeface="+mn-lt"/>
                <a:cs typeface="+mn-lt"/>
              </a:rPr>
              <a:t>Identify best-performing configuration</a:t>
            </a:r>
            <a:endParaRPr lang="en-US" sz="4700" b="1" dirty="0"/>
          </a:p>
          <a:p>
            <a:endParaRPr lang="en-US" sz="51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C3287E-870A-7F47-3E3D-5B53FAE4F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835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B372F-469C-7AF0-46BF-9189582D6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F351C-220D-9E77-878F-A4F76EC95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Comparison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screenshot of a black and white screen&#10;&#10;AI-generated content may be incorrect.">
            <a:extLst>
              <a:ext uri="{FF2B5EF4-FFF2-40B4-BE49-F238E27FC236}">
                <a16:creationId xmlns:a16="http://schemas.microsoft.com/office/drawing/2014/main" id="{C7F9F8D4-DA2E-13D2-B8BB-6431983AA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057" y="625684"/>
            <a:ext cx="4623434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6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BA251-16D7-612A-4E0C-5D8C2ACEB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E89DF4-43DE-04BD-0066-E7210CA77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1E81DF-9968-5C36-8B45-F94DF8392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DA01F7-F7FF-D249-027E-53CD5A86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C3A2211-DFCC-FB09-0AA7-41BF04650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8C529C-1E5B-7DA8-97FE-DD31348FE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C115E11-8254-E174-E3B8-2F41929E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B0B0A1-9B18-2E66-16F9-551AEF29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Best Model: Custom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4A5FE-2562-DA1D-2715-B7D848325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5100"/>
          </a:p>
          <a:p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2455D2-679B-EF5C-4419-AA9D46A82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ED89EC-974C-B965-D71B-8759404BBCE5}"/>
              </a:ext>
            </a:extLst>
          </p:cNvPr>
          <p:cNvSpPr txBox="1">
            <a:spLocks/>
          </p:cNvSpPr>
          <p:nvPr/>
        </p:nvSpPr>
        <p:spPr>
          <a:xfrm>
            <a:off x="1197428" y="31699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500" dirty="0">
                <a:ea typeface="+mn-lt"/>
                <a:cs typeface="+mn-lt"/>
              </a:rPr>
              <a:t>Highest overall accuracy</a:t>
            </a:r>
            <a:endParaRPr lang="en-US"/>
          </a:p>
          <a:p>
            <a:r>
              <a:rPr lang="en-US" sz="6500" dirty="0">
                <a:ea typeface="+mn-lt"/>
                <a:cs typeface="+mn-lt"/>
              </a:rPr>
              <a:t>Most stable across repeated runs</a:t>
            </a:r>
            <a:endParaRPr lang="en-US"/>
          </a:p>
          <a:p>
            <a:r>
              <a:rPr lang="en-US" sz="6500" dirty="0">
                <a:ea typeface="+mn-lt"/>
                <a:cs typeface="+mn-lt"/>
              </a:rPr>
              <a:t>Lower misclassification for High-risk cases</a:t>
            </a:r>
            <a:endParaRPr lang="en-US"/>
          </a:p>
          <a:p>
            <a:r>
              <a:rPr lang="en-US" sz="6500" dirty="0">
                <a:ea typeface="+mn-lt"/>
                <a:cs typeface="+mn-lt"/>
              </a:rPr>
              <a:t>Benefits from: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6100" dirty="0">
                <a:ea typeface="+mn-lt"/>
                <a:cs typeface="+mn-lt"/>
              </a:rPr>
              <a:t>bootstrapping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6100" dirty="0">
                <a:ea typeface="+mn-lt"/>
                <a:cs typeface="+mn-lt"/>
              </a:rPr>
              <a:t>feature randomness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6100" dirty="0">
                <a:ea typeface="+mn-lt"/>
                <a:cs typeface="+mn-lt"/>
              </a:rPr>
              <a:t>ensemble averaging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65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21211-E52B-DD13-9CFC-280B977F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2EE65B-1B76-4D39-1EF8-09E3700A4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09B95D4-FD28-CA7B-09CD-6312CF35B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3E4421-6616-9471-ABEF-EFD8369D2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E11364-34F1-CE9A-678F-E4BA0510C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338333-23B3-DAE5-AC73-CD38F495A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E4650B2-8E94-F742-0C97-EC24488B7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A3C63-78AC-CD5B-4B58-A0A48863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Challenges &amp; Future Directions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BE48D-0C04-6BC4-615F-AE67FAFFA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5100"/>
          </a:p>
          <a:p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48F38-9A6A-8066-EE42-EFEB1C27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3B3FEE7-832C-E44A-5FB6-D5ECB880F950}"/>
              </a:ext>
            </a:extLst>
          </p:cNvPr>
          <p:cNvSpPr txBox="1">
            <a:spLocks/>
          </p:cNvSpPr>
          <p:nvPr/>
        </p:nvSpPr>
        <p:spPr>
          <a:xfrm>
            <a:off x="1197428" y="31699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ea typeface="+mn-lt"/>
                <a:cs typeface="+mn-lt"/>
              </a:rPr>
              <a:t>Some numeric variables (e.g., bacteria count) are highly skewed, complicating KNN and threshold labeling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Risk thresholds are simplified and may not capture true public-health risk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Class imbalance affects model evaluation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Future improvements: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Add scaling for KNN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Incorporate more advanced models (e.g., gradient boosting)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Explore dimensionality reduction (PCA)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Use cross-validation for more robust performance estimates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35274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E281A-5406-49DC-E602-1C39913C8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359597-F615-8CC3-BFF3-6E56B241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F6A360-B0CC-B67B-05CD-95C5C7E3E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B84E83-1DAD-30DE-18E3-E24CAB2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66DFE5-E717-A208-9FC5-89F8C4D72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0923C45-BB6B-62B5-8BEF-BCA6049C0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34B13D-5F4C-3AA5-EDE1-2F61BA3A2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515F61-D767-F428-99D0-BD546B894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Data, References &amp; Tools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2FF9204-278C-A6D0-DD34-1EE618707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A31598-44B2-0BCF-0FA0-280770ACDA6E}"/>
              </a:ext>
            </a:extLst>
          </p:cNvPr>
          <p:cNvSpPr txBox="1">
            <a:spLocks/>
          </p:cNvSpPr>
          <p:nvPr/>
        </p:nvSpPr>
        <p:spPr>
          <a:xfrm>
            <a:off x="1197428" y="31699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</a:t>
            </a:r>
            <a:endParaRPr lang="en-US" sz="2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/>
              <a:t>Water</a:t>
            </a:r>
            <a:r>
              <a:rPr lang="en-US" sz="2200" dirty="0">
                <a:ea typeface="+mn-lt"/>
                <a:cs typeface="+mn-lt"/>
              </a:rPr>
              <a:t> Pollution &amp; Disease (Kaggle)</a:t>
            </a:r>
            <a:endParaRPr lang="en-US" sz="2200" dirty="0"/>
          </a:p>
          <a:p>
            <a:r>
              <a:rPr lang="en-US" dirty="0"/>
              <a:t>Technical References</a:t>
            </a:r>
            <a:endParaRPr lang="en-US" sz="2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600" dirty="0">
                <a:ea typeface="+mn-lt"/>
                <a:cs typeface="+mn-lt"/>
              </a:rPr>
              <a:t>WHO drinking-water guidelines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600" dirty="0">
                <a:ea typeface="+mn-lt"/>
                <a:cs typeface="+mn-lt"/>
              </a:rPr>
              <a:t>EPA water quality standards</a:t>
            </a:r>
            <a:endParaRPr lang="en-US" sz="2600"/>
          </a:p>
          <a:p>
            <a:r>
              <a:rPr lang="en-US" dirty="0"/>
              <a:t>Tools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600" dirty="0">
                <a:ea typeface="+mn-lt"/>
                <a:cs typeface="+mn-lt"/>
              </a:rPr>
              <a:t>Python, pandas, NumPy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600" dirty="0">
                <a:ea typeface="+mn-lt"/>
                <a:cs typeface="+mn-lt"/>
              </a:rPr>
              <a:t>Custom implementations of Decision Tree, KNN, and Random Forest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600" err="1">
                <a:ea typeface="+mn-lt"/>
                <a:cs typeface="+mn-lt"/>
              </a:rPr>
              <a:t>Jupyter</a:t>
            </a:r>
            <a:r>
              <a:rPr lang="en-US" sz="2600" dirty="0">
                <a:ea typeface="+mn-lt"/>
                <a:cs typeface="+mn-lt"/>
              </a:rPr>
              <a:t> Notebook for analysis and reporting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600" dirty="0">
                <a:ea typeface="+mn-lt"/>
                <a:cs typeface="+mn-lt"/>
              </a:rPr>
              <a:t>ChatGPT for a small amount of debugging</a:t>
            </a:r>
            <a:endParaRPr lang="en-US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015714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Water Pollution &amp; Disease Predicting and Mapping Waterborne Risk</vt:lpstr>
      <vt:lpstr>Why Predict Waterborne Risk?</vt:lpstr>
      <vt:lpstr>Dataset: Water Pollution &amp; Disease (Kaggle)</vt:lpstr>
      <vt:lpstr>Defining “Risk” and “Contamination”</vt:lpstr>
      <vt:lpstr>Data Challenges</vt:lpstr>
      <vt:lpstr>EDA: Histograms of Key Contaminants</vt:lpstr>
      <vt:lpstr>EDA: Boxplot of Nitrate Level by Risk Level</vt:lpstr>
      <vt:lpstr>EDA: Boxplot of Bacteria Count by Risk Level</vt:lpstr>
      <vt:lpstr>EDA: Risk Level Distribution</vt:lpstr>
      <vt:lpstr>Correlation Heatmap</vt:lpstr>
      <vt:lpstr>Preprocessing &amp; Feature Engineering</vt:lpstr>
      <vt:lpstr>Models Considered</vt:lpstr>
      <vt:lpstr>Evaluation Strategy</vt:lpstr>
      <vt:lpstr>Model Comparison</vt:lpstr>
      <vt:lpstr>Best Model: Custom Random Forest</vt:lpstr>
      <vt:lpstr>Challenges &amp; Future Directions</vt:lpstr>
      <vt:lpstr>Data, References &amp;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114</cp:revision>
  <dcterms:created xsi:type="dcterms:W3CDTF">2025-12-03T04:57:24Z</dcterms:created>
  <dcterms:modified xsi:type="dcterms:W3CDTF">2025-12-10T07:50:32Z</dcterms:modified>
</cp:coreProperties>
</file>
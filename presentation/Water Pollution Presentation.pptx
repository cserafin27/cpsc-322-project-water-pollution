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268CE4-33F6-5A39-352F-F8E5839EA4DB}" v="606" dt="2025-12-03T06:08:03.0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85588-974A-6C20-D4BB-ADF236586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25DA0-E8FE-5599-CAE0-B514CECC1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US" sz="6700" dirty="0">
                <a:ea typeface="+mj-lt"/>
                <a:cs typeface="+mj-lt"/>
              </a:rPr>
              <a:t>Water Pollution &amp; Disease</a:t>
            </a:r>
            <a:br>
              <a:rPr lang="en-US" sz="6700" dirty="0"/>
            </a:br>
            <a:r>
              <a:rPr lang="en-US" sz="4000" dirty="0">
                <a:ea typeface="+mj-lt"/>
                <a:cs typeface="+mj-lt"/>
              </a:rPr>
              <a:t>Predicting and Mapping Waterborne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A51DE-3E1C-B84A-E0C6-4695FFF2F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387052"/>
            <a:ext cx="9144000" cy="893210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228600" indent="-228600"/>
            <a:r>
              <a:rPr lang="en-US" sz="2800" dirty="0">
                <a:ea typeface="+mn-lt"/>
                <a:cs typeface="+mn-lt"/>
              </a:rPr>
              <a:t>Charles Serafin &amp; Kayla Vo</a:t>
            </a:r>
          </a:p>
          <a:p>
            <a:r>
              <a:rPr lang="en-US" sz="2800" dirty="0">
                <a:ea typeface="+mn-lt"/>
                <a:cs typeface="+mn-lt"/>
              </a:rPr>
              <a:t>CPSC 322 – Fall 2025</a:t>
            </a:r>
            <a:endParaRPr lang="en-US" sz="28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935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36411F-126C-4886-9BB4-3351A1AA6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>
                <a:ea typeface="+mj-lt"/>
                <a:cs typeface="+mj-lt"/>
              </a:rPr>
              <a:t>Why Predict Waterborne Risk?</a:t>
            </a:r>
            <a:endParaRPr lang="en-US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397A2-AE0F-F1D4-F568-2362CBE10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>
                <a:ea typeface="+mn-lt"/>
                <a:cs typeface="+mn-lt"/>
              </a:rPr>
              <a:t>Unsafe water contributes to millions of preventable illnesses and deaths worldwide each year.</a:t>
            </a:r>
          </a:p>
          <a:p>
            <a:r>
              <a:rPr lang="en-US" sz="2400">
                <a:ea typeface="+mn-lt"/>
                <a:cs typeface="+mn-lt"/>
              </a:rPr>
              <a:t>Many communities lack continuous or real-time water quality monitoring.</a:t>
            </a:r>
          </a:p>
          <a:p>
            <a:r>
              <a:rPr lang="en-US" sz="2400">
                <a:ea typeface="+mn-lt"/>
                <a:cs typeface="+mn-lt"/>
              </a:rPr>
              <a:t>Machine learning can turn raw water quality measurements into simple, actionable risk labels (e.g., Safe / At-Risk).</a:t>
            </a:r>
          </a:p>
          <a:p>
            <a:r>
              <a:rPr lang="en-US" sz="2400">
                <a:ea typeface="+mn-lt"/>
                <a:cs typeface="+mn-lt"/>
              </a:rPr>
              <a:t>Our goal: support early warning and better decision-making for water safety.</a:t>
            </a:r>
            <a:endParaRPr lang="en-US" sz="2400"/>
          </a:p>
          <a:p>
            <a:endParaRPr lang="en-US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853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485801-8AD1-96E4-B7E7-E9B47D2D0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>
                <a:ea typeface="+mj-lt"/>
                <a:cs typeface="+mj-lt"/>
              </a:rPr>
              <a:t>Dataset: Water Pollution &amp; Disease (Kaggle)</a:t>
            </a:r>
            <a:endParaRPr lang="en-US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4A048-EF29-CE9E-D6F5-BFBB92B1A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200">
                <a:ea typeface="+mn-lt"/>
                <a:cs typeface="+mn-lt"/>
              </a:rPr>
              <a:t>Unit of analysis: Country–Region–Year water sample (2000–2025).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Number of attributes: 23 water quality, health, and socioeconomic features</a:t>
            </a:r>
            <a:endParaRPr lang="en-US" sz="220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>
                <a:ea typeface="+mn-lt"/>
                <a:cs typeface="+mn-lt"/>
              </a:rPr>
              <a:t>Examples: Contaminant Level (ppm), pH Level, Turbidity (NTU), Dissolved Oxygen, Nitrate, Lead Concentration, Bacteria Count, Treatment Method, Rainfall, Temperature, Population Density.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Target labels: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>
                <a:ea typeface="+mn-lt"/>
                <a:cs typeface="+mn-lt"/>
              </a:rPr>
              <a:t>Contaminated? (Yes / No)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>
                <a:ea typeface="+mn-lt"/>
                <a:cs typeface="+mn-lt"/>
              </a:rPr>
              <a:t>Risk Level: Low / Medium / High</a:t>
            </a:r>
          </a:p>
          <a:p>
            <a:endParaRPr lang="en-US" sz="2200"/>
          </a:p>
          <a:p>
            <a:endParaRPr lang="en-US" sz="22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6503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28A81-4A77-68EC-432A-D3B4997CC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>
                <a:ea typeface="+mj-lt"/>
                <a:cs typeface="+mj-lt"/>
              </a:rPr>
              <a:t>Defining “Risk” and “Contamination”</a:t>
            </a:r>
            <a:endParaRPr lang="en-US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FC86F-6D76-1713-A3FA-291DA4235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900">
                <a:ea typeface="+mn-lt"/>
                <a:cs typeface="+mn-lt"/>
              </a:rPr>
              <a:t>Contaminated (Yes/No):</a:t>
            </a:r>
            <a:endParaRPr lang="en-US" sz="190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ea typeface="+mn-lt"/>
                <a:cs typeface="+mn-lt"/>
              </a:rPr>
              <a:t>True if one or more key measurements (e.g., lead, nitrate, bacteria count) exceed safety guidelines (WHO / EPA).</a:t>
            </a:r>
            <a:endParaRPr lang="en-US" sz="1900"/>
          </a:p>
          <a:p>
            <a:r>
              <a:rPr lang="en-US" sz="1900">
                <a:ea typeface="+mn-lt"/>
                <a:cs typeface="+mn-lt"/>
              </a:rPr>
              <a:t>Risk Level (Low / Medium / High):</a:t>
            </a:r>
            <a:endParaRPr lang="en-US" sz="190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ea typeface="+mn-lt"/>
                <a:cs typeface="+mn-lt"/>
              </a:rPr>
              <a:t>Low: All contaminants comfortably below guideline thresholds.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ea typeface="+mn-lt"/>
                <a:cs typeface="+mn-lt"/>
              </a:rPr>
              <a:t>Medium: Near thresholds or one slightly elevated.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900">
                <a:ea typeface="+mn-lt"/>
                <a:cs typeface="+mn-lt"/>
              </a:rPr>
              <a:t>High: One or more contaminants clearly above safe levels (e.g., high lead or nitrate).</a:t>
            </a:r>
          </a:p>
          <a:p>
            <a:r>
              <a:rPr lang="en-US" sz="1900">
                <a:ea typeface="+mn-lt"/>
                <a:cs typeface="+mn-lt"/>
              </a:rPr>
              <a:t>Thresholds were inspired by WHO and EPA drinking water guidelines (simplified for this project).</a:t>
            </a:r>
            <a:endParaRPr lang="en-US" sz="1900"/>
          </a:p>
          <a:p>
            <a:endParaRPr lang="en-US" sz="19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851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AA47AB-68DD-E408-30FF-E85324DB6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>
                <a:ea typeface="+mj-lt"/>
                <a:cs typeface="+mj-lt"/>
              </a:rPr>
              <a:t>Data Challenges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0B6D2-79A9-9F86-0284-4045552E1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03411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>
                <a:ea typeface="+mn-lt"/>
                <a:cs typeface="+mn-lt"/>
              </a:rPr>
              <a:t>The dataset was clean: </a:t>
            </a:r>
            <a:endParaRPr lang="en-US" dirty="0"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>
                <a:ea typeface="+mn-lt"/>
                <a:cs typeface="+mn-lt"/>
              </a:rPr>
              <a:t>No missing values, consistent formatting, and well-structured numeric attributes.</a:t>
            </a: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Some features had very different scales.</a:t>
            </a:r>
          </a:p>
          <a:p>
            <a:pPr marL="971550" lvl="1" indent="-285750">
              <a:buFont typeface="Courier New,monospace"/>
              <a:buChar char="o"/>
            </a:pPr>
            <a:r>
              <a:rPr lang="en-US" sz="1600" dirty="0">
                <a:ea typeface="+mn-lt"/>
                <a:cs typeface="+mn-lt"/>
              </a:rPr>
              <a:t>(e.g., Contaminant Level in ppm vs. Lead in µg/L), requiring normalization for models like KNN.</a:t>
            </a:r>
            <a:endParaRPr lang="en-US" dirty="0"/>
          </a:p>
          <a:p>
            <a:r>
              <a:rPr lang="en-US" sz="2000" dirty="0">
                <a:ea typeface="+mn-lt"/>
                <a:cs typeface="+mn-lt"/>
              </a:rPr>
              <a:t>The main challenge was understanding and interpreting each water quality measurement (ppm, NTU, µg/L, mg/L) and aligning them with health-based thresholds.</a:t>
            </a:r>
            <a:endParaRPr lang="en-US" dirty="0">
              <a:ea typeface="+mn-lt"/>
              <a:cs typeface="+mn-lt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702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D7DBB-9904-6926-DFD6-81733510B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>
                <a:ea typeface="+mj-lt"/>
                <a:cs typeface="+mj-lt"/>
              </a:rPr>
              <a:t>EDA: Histogram of Contaminant Level</a:t>
            </a:r>
            <a:endParaRPr lang="en-US" sz="3800"/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E3792-5BA1-1F52-F73F-3D890AEC9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+mn-lt"/>
                <a:cs typeface="+mn-lt"/>
              </a:rPr>
              <a:t>The lack of clustering means contamination varies widely across regions.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This also suggests that no single threshold dominates, making multi-class risk labeling appropriate.</a:t>
            </a:r>
            <a:endParaRPr lang="en-US" sz="2200" b="1" dirty="0"/>
          </a:p>
          <a:p>
            <a:endParaRPr lang="en-US" sz="2200"/>
          </a:p>
        </p:txBody>
      </p:sp>
      <p:pic>
        <p:nvPicPr>
          <p:cNvPr id="4" name="Picture 3" descr="A graph of a person with a blue line&#10;&#10;AI-generated content may be incorrect.">
            <a:extLst>
              <a:ext uri="{FF2B5EF4-FFF2-40B4-BE49-F238E27FC236}">
                <a16:creationId xmlns:a16="http://schemas.microsoft.com/office/drawing/2014/main" id="{A3D38EBD-E142-C233-1375-E80E1B1B6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271588"/>
            <a:ext cx="6903720" cy="431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063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D70FC-86FA-40D1-0B29-9FE675C60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EDA: Boxplot of Nitrate Level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32784-880C-BC81-533C-EA21AC22C744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The wide interquartile range suggests significant regional variability.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Nitrates are a key contaminant because they are linked to human health risks such as “blue baby syndrome.”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/>
          </a:p>
        </p:txBody>
      </p:sp>
      <p:pic>
        <p:nvPicPr>
          <p:cNvPr id="4" name="Content Placeholder 3" descr="A blue box diagram with white text&#10;&#10;AI-generated content may be incorrect.">
            <a:extLst>
              <a:ext uri="{FF2B5EF4-FFF2-40B4-BE49-F238E27FC236}">
                <a16:creationId xmlns:a16="http://schemas.microsoft.com/office/drawing/2014/main" id="{6A5B1CB9-0A22-3830-68A0-72EA7DADE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271588"/>
            <a:ext cx="6903720" cy="431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01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72B30-3595-13C9-161F-27AD84DD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EDA: Boxplot of Lead Concentration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1DDBD7-DC64-1500-3C27-E066F733227A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A substantial number of samples cluster below 10 µg/L, but some extend toward 20 µg/L.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Lead is a high-impact contaminant ("no safe level"), so even moderate values significantly increased risk classification.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BFE4F73-EA2A-9C3F-82ED-8AAD7AD0E4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271588"/>
            <a:ext cx="6903720" cy="431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8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6C5B7-6F57-5438-A84B-3026AE30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EDA: Risk Level Distribution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EDFC9C-BBDC-9E14-DEB3-16CF259E65B9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This imbalance means accuracy alone is misleading — classifiers may predict “Low” for everything and still appear to perform well.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Models must be evaluated using precision, recall, and confusion matrices, especially for the High-risk class.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4" name="Content Placeholder 3" descr="A graph of a distribution of risk levels&#10;&#10;AI-generated content may be incorrect.">
            <a:extLst>
              <a:ext uri="{FF2B5EF4-FFF2-40B4-BE49-F238E27FC236}">
                <a16:creationId xmlns:a16="http://schemas.microsoft.com/office/drawing/2014/main" id="{E8462405-37E3-5877-34E6-7DB788775B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963385"/>
            <a:ext cx="6903720" cy="4931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495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DDE86F-0AAE-8330-B0E7-6281B1C1B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Correlation Heatmap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08301F-F340-A993-F396-239EC93217FE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Most variables have weak correlations, suggesting each contributes unique information to classification.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Lead, nitrate, turbidity, and contaminant level do not strongly correlate with one another, meaning multi-feature models like decision trees and random forests can benefit.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</p:txBody>
      </p:sp>
      <p:pic>
        <p:nvPicPr>
          <p:cNvPr id="4" name="Content Placeholder 3" descr="A blue and red graph&#10;&#10;AI-generated content may be incorrect.">
            <a:extLst>
              <a:ext uri="{FF2B5EF4-FFF2-40B4-BE49-F238E27FC236}">
                <a16:creationId xmlns:a16="http://schemas.microsoft.com/office/drawing/2014/main" id="{A321A76B-A74C-C76C-79E4-15CA0275CF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127759"/>
            <a:ext cx="6903720" cy="460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274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9DD058-48AD-4974-D353-EF2DF76DA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AB8BD09-5C13-183D-CB4F-C0AAF05EC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C4AB90-5F76-458A-A581-626816883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97B444-7739-44F3-3181-679E8DBCE2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747FEF7-28AA-9B67-7567-74838988D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521C43-7D45-DACB-EB70-8860E6B70A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33972C9-2E7C-4B32-FC43-400A6055B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8F3B9F-63B8-CE90-39B0-A41E93B7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Preprocessing &amp; Feature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15820-DD6B-D018-B213-FF7A2E07F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2600" dirty="0">
                <a:ea typeface="+mn-lt"/>
                <a:cs typeface="+mn-lt"/>
              </a:rPr>
              <a:t>Handle missing values: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>
                <a:ea typeface="+mn-lt"/>
                <a:cs typeface="+mn-lt"/>
              </a:rPr>
              <a:t>Numerical features: impute with mean or median.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>
                <a:ea typeface="+mn-lt"/>
                <a:cs typeface="+mn-lt"/>
              </a:rPr>
              <a:t>Drop rows with too many missing values.</a:t>
            </a:r>
            <a:endParaRPr lang="en-US" sz="2200" dirty="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600" dirty="0">
                <a:ea typeface="+mn-lt"/>
                <a:cs typeface="+mn-lt"/>
              </a:rPr>
              <a:t>Encoding categorical features: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>
                <a:ea typeface="+mn-lt"/>
                <a:cs typeface="+mn-lt"/>
              </a:rPr>
              <a:t>Country, Region, Water Source Type → one-hot encoding.</a:t>
            </a:r>
            <a:endParaRPr lang="en-US" sz="2200" dirty="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600" dirty="0">
                <a:ea typeface="+mn-lt"/>
                <a:cs typeface="+mn-lt"/>
              </a:rPr>
              <a:t>Scaling: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>
                <a:ea typeface="+mn-lt"/>
                <a:cs typeface="+mn-lt"/>
              </a:rPr>
              <a:t>Normalize or standardize all numerical features (important for KNN).</a:t>
            </a:r>
            <a:endParaRPr lang="en-US" sz="2200" dirty="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600" dirty="0">
                <a:ea typeface="+mn-lt"/>
                <a:cs typeface="+mn-lt"/>
              </a:rPr>
              <a:t>Train/Test split: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>
                <a:ea typeface="+mn-lt"/>
                <a:cs typeface="+mn-lt"/>
              </a:rPr>
              <a:t>Use k-fold cross-validation to avoid overfitting and get robust performance estimates.</a:t>
            </a:r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600" dirty="0">
                <a:ea typeface="+mn-lt"/>
                <a:cs typeface="+mn-lt"/>
              </a:rPr>
              <a:t>We applied standardization to numerical features for KNN and tree-based models to avoid bias from large-scale attributes (like GDP or population density).</a:t>
            </a:r>
            <a:endParaRPr lang="en-US" dirty="0"/>
          </a:p>
          <a:p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2FC290-6324-5C2C-E1E5-A640829E1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142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343DA-5EB7-32FC-0384-2B2BF48C8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E82524F-54D6-F7EB-F542-2ADC45FF1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CAC23B5-8154-6E79-51B3-EE976DB3A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0CD47E5-64FA-6791-B936-E0BC269CA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8BD654-E685-3F13-7162-4806947F86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6ED1780-5AD9-1040-9555-6F8FC87991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66584AC-13AF-C59D-4DE8-14F03584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46DC9C-155A-C56F-5B8F-8C2536EB8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Models Considered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908DE-2E24-2218-1876-ECD2345FF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r>
              <a:rPr lang="en-US" sz="3400" dirty="0">
                <a:ea typeface="+mn-lt"/>
                <a:cs typeface="+mn-lt"/>
              </a:rPr>
              <a:t>Baseline Dummy Classifier: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Predicts majority class (e.g., always “Low” risk).</a:t>
            </a:r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3400" dirty="0">
                <a:ea typeface="+mn-lt"/>
                <a:cs typeface="+mn-lt"/>
              </a:rPr>
              <a:t>K-Nearest Neighbors (KNN):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Samples classified based on similarity (distance) to neighbors.</a:t>
            </a:r>
            <a:endParaRPr lang="en-US" sz="2800" dirty="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Sensitive to feature scaling and k value.</a:t>
            </a:r>
            <a:endParaRPr lang="en-US" sz="2800" dirty="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3400" dirty="0">
                <a:ea typeface="+mn-lt"/>
                <a:cs typeface="+mn-lt"/>
              </a:rPr>
              <a:t>Decision Tree: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Learns simple “if-then” rules from features.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Easy to interpret.</a:t>
            </a:r>
            <a:endParaRPr lang="en-US" sz="280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3400" dirty="0">
                <a:ea typeface="+mn-lt"/>
                <a:cs typeface="+mn-lt"/>
              </a:rPr>
              <a:t>Custom Random Forest: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Ensemble of decision trees with stratified sampling.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800" dirty="0">
                <a:ea typeface="+mn-lt"/>
                <a:cs typeface="+mn-lt"/>
              </a:rPr>
              <a:t>Each tree trained on a different bootstrap sample and feature subset.</a:t>
            </a:r>
            <a:endParaRPr lang="en-US" dirty="0"/>
          </a:p>
          <a:p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306C6DD-3F2E-A735-6D15-F6D6623DE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749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D7F22-8EA3-FCE5-D720-3BCEE75C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EDF61F-CEBA-C590-1861-EC830CB11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81B695-9B9C-23E8-9F89-23268538F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543B733-2B46-228D-79F5-7B0382CD8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55FBF6E-6F06-042D-EB0A-3B46E5E4E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DBDB0C-9B6E-514A-3F77-17C9C270A6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CC25755D-C469-0C1A-E731-FE7BF043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320341-BFD1-B00A-BC8D-66389B862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Evaluation Strategy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A282E-18B4-3F99-AB42-AC6BA3A58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 fontScale="47500" lnSpcReduction="20000"/>
          </a:bodyPr>
          <a:lstStyle/>
          <a:p>
            <a:r>
              <a:rPr lang="en-US" sz="5100" dirty="0">
                <a:ea typeface="+mn-lt"/>
                <a:cs typeface="+mn-lt"/>
              </a:rPr>
              <a:t>k-fold cross-validation (e.g., k = 5 or 10) to average performance.</a:t>
            </a:r>
            <a:endParaRPr lang="en-US" sz="5100" dirty="0"/>
          </a:p>
          <a:p>
            <a:r>
              <a:rPr lang="en-US" sz="5100" dirty="0">
                <a:ea typeface="+mn-lt"/>
                <a:cs typeface="+mn-lt"/>
              </a:rPr>
              <a:t>Metrics: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4700" dirty="0">
                <a:ea typeface="+mn-lt"/>
                <a:cs typeface="+mn-lt"/>
              </a:rPr>
              <a:t>Accuracy – overall correctness.</a:t>
            </a:r>
            <a:endParaRPr lang="en-US" sz="47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4700" dirty="0">
                <a:ea typeface="+mn-lt"/>
                <a:cs typeface="+mn-lt"/>
              </a:rPr>
              <a:t>Precision &amp; Recall for “High risk” class.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4700" dirty="0">
                <a:ea typeface="+mn-lt"/>
                <a:cs typeface="+mn-lt"/>
              </a:rPr>
              <a:t>F1-score for imbalanced data.</a:t>
            </a:r>
            <a:endParaRPr lang="en-US" sz="47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4700" dirty="0">
                <a:ea typeface="+mn-lt"/>
                <a:cs typeface="+mn-lt"/>
              </a:rPr>
              <a:t>Confusion Matrix to see which classes are confused.</a:t>
            </a:r>
          </a:p>
          <a:p>
            <a:r>
              <a:rPr lang="en-US" sz="5100" dirty="0">
                <a:ea typeface="+mn-lt"/>
                <a:cs typeface="+mn-lt"/>
              </a:rPr>
              <a:t>We compare all models on the same train/test splits to ensure fair comparison and focus specifically on performance for High-risk samples.</a:t>
            </a:r>
            <a:endParaRPr lang="en-US" sz="5100" dirty="0"/>
          </a:p>
          <a:p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C3287E-870A-7F47-3E3D-5B53FAE4F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835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B372F-469C-7AF0-46BF-9189582D6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7045DEA-B577-1CF7-43D6-17CD48B46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CDD71E-70BB-6A81-5F32-43C15E902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34497E-4A42-114F-F103-94715CEF63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771C858-90D6-B4F6-F68B-FE414993E1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3BDED-E227-940E-B4C2-3D456C2B3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1F351C-220D-9E77-878F-A4F76EC95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Model Comparison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05C2B6-BEF1-FFFD-EEE0-559F8D55D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D25806-5817-92B8-5479-D77F3544A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850" y="3917598"/>
            <a:ext cx="3924300" cy="123825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31C9F0B-4C2F-67D3-DF04-62E2FD68B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28" y="2760486"/>
            <a:ext cx="3924300" cy="1724025"/>
          </a:xfrm>
          <a:prstGeom prst="rect">
            <a:avLst/>
          </a:prstGeom>
        </p:spPr>
      </p:pic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5E78A4D-5923-7A57-A963-7B1B4E651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573" y="4637264"/>
            <a:ext cx="3924300" cy="1724025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C2EE790-18E5-18F9-F7EB-3AEB03BB19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28" y="4637263"/>
            <a:ext cx="3924300" cy="1724025"/>
          </a:xfrm>
          <a:prstGeom prst="rect">
            <a:avLst/>
          </a:prstGeom>
        </p:spPr>
      </p:pic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688841C-91CF-5441-9A37-0026E2AAC8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2573" y="2760486"/>
            <a:ext cx="3924300" cy="17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16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BA251-16D7-612A-4E0C-5D8C2ACE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E89DF4-43DE-04BD-0066-E7210CA77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F1E81DF-9968-5C36-8B45-F94DF8392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DA01F7-F7FF-D249-027E-53CD5A86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C3A2211-DFCC-FB09-0AA7-41BF046507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8C529C-1E5B-7DA8-97FE-DD31348FE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C115E11-8254-E174-E3B8-2F41929E9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B0B0A1-9B18-2E66-16F9-551AEF294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Best Model: Custom 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A5FE-2562-DA1D-2715-B7D8483256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5100" dirty="0"/>
          </a:p>
          <a:p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2455D2-679B-EF5C-4419-AA9D46A82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ED89EC-974C-B965-D71B-8759404BBCE5}"/>
              </a:ext>
            </a:extLst>
          </p:cNvPr>
          <p:cNvSpPr txBox="1">
            <a:spLocks/>
          </p:cNvSpPr>
          <p:nvPr/>
        </p:nvSpPr>
        <p:spPr>
          <a:xfrm>
            <a:off x="1197428" y="31699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500" dirty="0">
                <a:ea typeface="+mn-lt"/>
                <a:cs typeface="+mn-lt"/>
              </a:rPr>
              <a:t>The Random Forest classifier achieved the highest overall performance on our dataset. </a:t>
            </a:r>
          </a:p>
          <a:p>
            <a:r>
              <a:rPr lang="en-US" sz="6500" dirty="0">
                <a:ea typeface="+mn-lt"/>
                <a:cs typeface="+mn-lt"/>
              </a:rPr>
              <a:t>Performs significantly better than: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Dummy Classifier (predicts only Medium-risk → Recall = 0)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KNN (overlaps heavily on continuous features → Recall ≈ 0.41)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Single Decision Tree (also perfect but less stable and more prone to overfitting)</a:t>
            </a:r>
          </a:p>
          <a:p>
            <a:r>
              <a:rPr lang="en-US" sz="6500" dirty="0">
                <a:ea typeface="+mn-lt"/>
                <a:cs typeface="+mn-lt"/>
              </a:rPr>
              <a:t>Random Forest reduces noise and overfitting by: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Training many bootstrapped trees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Using random subsets of features (F)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6100" dirty="0">
                <a:ea typeface="+mn-lt"/>
                <a:cs typeface="+mn-lt"/>
              </a:rPr>
              <a:t>Combining results through majority voting</a:t>
            </a:r>
            <a:endParaRPr lang="en-US" sz="6100"/>
          </a:p>
          <a:p>
            <a:r>
              <a:rPr lang="en-US" sz="6500" dirty="0">
                <a:ea typeface="+mn-lt"/>
                <a:cs typeface="+mn-lt"/>
              </a:rPr>
              <a:t>This makes Random Forest the most robust, generalizable, and dependable model for detecting unsafe (High-risk) water samples.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6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21211-E52B-DD13-9CFC-280B977FE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EE65B-1B76-4D39-1EF8-09E3700A4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09B95D4-FD28-CA7B-09CD-6312CF35B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63E4421-6616-9471-ABEF-EFD8369D2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E11364-34F1-CE9A-678F-E4BA0510C3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C338333-23B3-DAE5-AC73-CD38F495AD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E4650B2-8E94-F742-0C97-EC24488B70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CA3C63-78AC-CD5B-4B58-A0A48863E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Challenges &amp; Future Directions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BE48D-0C04-6BC4-615F-AE67FAFFA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5100" dirty="0"/>
          </a:p>
          <a:p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48F38-9A6A-8066-EE42-EFEB1C27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B3FEE7-832C-E44A-5FB6-D5ECB880F950}"/>
              </a:ext>
            </a:extLst>
          </p:cNvPr>
          <p:cNvSpPr txBox="1">
            <a:spLocks/>
          </p:cNvSpPr>
          <p:nvPr/>
        </p:nvSpPr>
        <p:spPr>
          <a:xfrm>
            <a:off x="1197428" y="31699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Data quality: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/>
              <a:t>Missing or noisy values, and potential measurement error.</a:t>
            </a:r>
            <a:endParaRPr lang="en-US" sz="220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400" dirty="0"/>
              <a:t>Label definition: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/>
              <a:t>Risk thresholds simplified and may not capture all local health guidelines.</a:t>
            </a:r>
            <a:endParaRPr lang="en-US" sz="220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400" dirty="0"/>
              <a:t>Imbalance: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/>
              <a:t>High-risk still underrepresented; oversampling or class-weighting could help.</a:t>
            </a:r>
            <a:endParaRPr lang="en-US" sz="2200"/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2400" dirty="0"/>
              <a:t>Future improvements: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/>
              <a:t>Incorporate time trends (Year) more explicitly to capture improving or worsening conditions over time</a:t>
            </a:r>
            <a:endParaRPr lang="en-US" sz="22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200" dirty="0"/>
              <a:t>Add more features (pathogen counts, sanitation indicators, population density).</a:t>
            </a:r>
          </a:p>
        </p:txBody>
      </p:sp>
    </p:spTree>
    <p:extLst>
      <p:ext uri="{BB962C8B-B14F-4D97-AF65-F5344CB8AC3E}">
        <p14:creationId xmlns:p14="http://schemas.microsoft.com/office/powerpoint/2010/main" val="3035274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8E281A-5406-49DC-E602-1C39913C8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5359597-F615-8CC3-BFF3-6E56B241E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F6A360-B0CC-B67B-05CD-95C5C7E3E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B84E83-1DAD-30DE-18E3-E24CAB29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66DFE5-E717-A208-9FC5-89F8C4D72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0923C45-BB6B-62B5-8BEF-BCA6049C0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4B13D-5F4C-3AA5-EDE1-2F61BA3A2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515F61-D767-F428-99D0-BD546B894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Data, References &amp; Tools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2FF9204-278C-A6D0-DD34-1EE618707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AA31598-44B2-0BCF-0FA0-280770ACDA6E}"/>
              </a:ext>
            </a:extLst>
          </p:cNvPr>
          <p:cNvSpPr txBox="1">
            <a:spLocks/>
          </p:cNvSpPr>
          <p:nvPr/>
        </p:nvSpPr>
        <p:spPr>
          <a:xfrm>
            <a:off x="1197428" y="31699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dirty="0"/>
              <a:t>Dataset: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600" i="1" dirty="0"/>
              <a:t>Water Pollution &amp; Disease</a:t>
            </a:r>
            <a:r>
              <a:rPr lang="en-US" sz="2600" dirty="0"/>
              <a:t> – Kaggle (CSV)</a:t>
            </a:r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3000" dirty="0"/>
              <a:t>Technical References: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600" dirty="0"/>
              <a:t>“Predicting Water Quality with Machine Learning” – Locus Technologies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600" dirty="0"/>
              <a:t>WHO and EPA drinking-water quality guidelines</a:t>
            </a:r>
          </a:p>
          <a:p>
            <a:pPr>
              <a:buFont typeface="Courier New,monospace" panose="020B0604020202020204" pitchFamily="34" charset="0"/>
              <a:buChar char="o"/>
            </a:pPr>
            <a:r>
              <a:rPr lang="en-US" sz="3000" dirty="0"/>
              <a:t>Tools &amp; Libraries: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600" dirty="0"/>
              <a:t>Python, pandas, NumPy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sz="2600" dirty="0"/>
              <a:t>scikit-learn (KNN, </a:t>
            </a:r>
            <a:r>
              <a:rPr lang="en-US" sz="2600" dirty="0" err="1"/>
              <a:t>DecisionTreeClassifier</a:t>
            </a:r>
            <a:r>
              <a:rPr lang="en-US" sz="2600" dirty="0"/>
              <a:t>, </a:t>
            </a:r>
            <a:r>
              <a:rPr lang="en-US" sz="2600" dirty="0" err="1"/>
              <a:t>RandomForest</a:t>
            </a:r>
            <a:r>
              <a:rPr lang="en-US" sz="2600" dirty="0"/>
              <a:t> baseline)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5714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Water Pollution &amp; Disease Predicting and Mapping Waterborne Risk</vt:lpstr>
      <vt:lpstr>Why Predict Waterborne Risk?</vt:lpstr>
      <vt:lpstr>Dataset: Water Pollution &amp; Disease (Kaggle)</vt:lpstr>
      <vt:lpstr>Defining “Risk” and “Contamination”</vt:lpstr>
      <vt:lpstr>Data Challenges</vt:lpstr>
      <vt:lpstr>EDA: Histogram of Contaminant Level</vt:lpstr>
      <vt:lpstr>EDA: Boxplot of Nitrate Level</vt:lpstr>
      <vt:lpstr>EDA: Boxplot of Lead Concentration</vt:lpstr>
      <vt:lpstr>EDA: Risk Level Distribution</vt:lpstr>
      <vt:lpstr>Correlation Heatmap</vt:lpstr>
      <vt:lpstr>Preprocessing &amp; Feature Engineering</vt:lpstr>
      <vt:lpstr>Models Considered</vt:lpstr>
      <vt:lpstr>Evaluation Strategy</vt:lpstr>
      <vt:lpstr>Model Comparison</vt:lpstr>
      <vt:lpstr>Best Model: Custom Random Forest</vt:lpstr>
      <vt:lpstr>Challenges &amp; Future Directions</vt:lpstr>
      <vt:lpstr>Data, References &amp; Tools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258</cp:revision>
  <dcterms:created xsi:type="dcterms:W3CDTF">2025-12-03T04:57:24Z</dcterms:created>
  <dcterms:modified xsi:type="dcterms:W3CDTF">2025-12-03T06:09:10Z</dcterms:modified>
</cp:coreProperties>
</file>